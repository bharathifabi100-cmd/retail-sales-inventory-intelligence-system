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TC Avant Garde Gothic Bold" charset="1" panose="020B0802020202020204"/>
      <p:regular r:id="rId29"/>
    </p:embeddedFont>
    <p:embeddedFont>
      <p:font typeface="ITC Avant Garde Gothic" charset="1" panose="020B0502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337"/>
            <a:ext cx="5998829" cy="5998829"/>
          </a:xfrm>
          <a:custGeom>
            <a:avLst/>
            <a:gdLst/>
            <a:ahLst/>
            <a:cxnLst/>
            <a:rect r="r" b="b" t="t" l="l"/>
            <a:pathLst>
              <a:path h="5998829" w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31923" y="1033692"/>
            <a:ext cx="3073400" cy="3073400"/>
          </a:xfrm>
          <a:custGeom>
            <a:avLst/>
            <a:gdLst/>
            <a:ahLst/>
            <a:cxnLst/>
            <a:rect r="r" b="b" t="t" l="l"/>
            <a:pathLst>
              <a:path h="3073400" w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289171" y="4288171"/>
            <a:ext cx="5998829" cy="5998829"/>
          </a:xfrm>
          <a:custGeom>
            <a:avLst/>
            <a:gdLst/>
            <a:ahLst/>
            <a:cxnLst/>
            <a:rect r="r" b="b" t="t" l="l"/>
            <a:pathLst>
              <a:path h="5998829" w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185900" y="6184900"/>
            <a:ext cx="3073400" cy="3073400"/>
          </a:xfrm>
          <a:custGeom>
            <a:avLst/>
            <a:gdLst/>
            <a:ahLst/>
            <a:cxnLst/>
            <a:rect r="r" b="b" t="t" l="l"/>
            <a:pathLst>
              <a:path h="3073400" w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82238" y="-22337"/>
            <a:ext cx="2205762" cy="2205762"/>
          </a:xfrm>
          <a:custGeom>
            <a:avLst/>
            <a:gdLst/>
            <a:ahLst/>
            <a:cxnLst/>
            <a:rect r="r" b="b" t="t" l="l"/>
            <a:pathLst>
              <a:path h="2205762" w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0476" y="2275117"/>
            <a:ext cx="15100003" cy="413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8"/>
              </a:lnSpc>
            </a:pPr>
            <a:r>
              <a:rPr lang="en-US" b="true" sz="7577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DATA-D</a:t>
            </a:r>
            <a:r>
              <a:rPr lang="en-US" b="true" sz="7577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RIVEN INSIGHTS FOR DIGITAL MARKETING CAMPAIGNS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9295" y="6532942"/>
            <a:ext cx="6677303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by : BHARATHI A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Batch No : BMAI-S-WD-T-B15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8081238"/>
            <a:ext cx="2205762" cy="2205762"/>
          </a:xfrm>
          <a:custGeom>
            <a:avLst/>
            <a:gdLst/>
            <a:ahLst/>
            <a:cxnLst/>
            <a:rect r="r" b="b" t="t" l="l"/>
            <a:pathLst>
              <a:path h="2205762" w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050" y="36546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0913" y="37769"/>
            <a:ext cx="11400272" cy="109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b="true" sz="567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ABOUT THIS PROJECTS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1385" y="2390775"/>
            <a:ext cx="14719327" cy="538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</a:t>
            </a:r>
            <a:r>
              <a:rPr lang="en-US" sz="30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 project, undertaken in the role of a Google Digital Marketing Consultant, aims to solve campaign inefficiencies by making data actionable.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core objective is to analyze marketing data, build clear visualizations (the dashboard), and share high-impact insights that drive data-driven decisions. Ultimately, this will optimize client campaigns to maximize conversions and ROI. We are moving from simply reporting performance to actively prescribing strategic improvements.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6546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9128005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85681" y="108288"/>
            <a:ext cx="11704008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TABLE OF 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0323" y="2919700"/>
            <a:ext cx="14955765" cy="422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9728" indent="-284864" lvl="1">
              <a:lnSpc>
                <a:spcPts val="3694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Preparation</a:t>
            </a:r>
          </a:p>
          <a:p>
            <a:pPr algn="just" marL="569728" indent="-284864" lvl="1">
              <a:lnSpc>
                <a:spcPts val="3694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Cleaning By SQL</a:t>
            </a:r>
          </a:p>
          <a:p>
            <a:pPr algn="just" marL="569728" indent="-284864" lvl="1">
              <a:lnSpc>
                <a:spcPts val="3694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Dashboard Preparation &amp; Build Dashboard</a:t>
            </a:r>
          </a:p>
          <a:p>
            <a:pPr algn="just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1.Executive Overview</a:t>
            </a:r>
          </a:p>
          <a:p>
            <a:pPr algn="just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2.Acquisition &amp; Channel Insights</a:t>
            </a:r>
          </a:p>
          <a:p>
            <a:pPr algn="just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3.Landing Page Performance</a:t>
            </a:r>
          </a:p>
          <a:p>
            <a:pPr algn="just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4.Audience &amp; Demographics</a:t>
            </a:r>
          </a:p>
          <a:p>
            <a:pPr algn="just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5.Events Funnel &amp; Campaign Forecasting</a:t>
            </a:r>
          </a:p>
          <a:p>
            <a:pPr algn="just">
              <a:lnSpc>
                <a:spcPts val="369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60" y="36546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31658" y="108288"/>
            <a:ext cx="11704008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DATA PREPARATIONS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0323" y="2919700"/>
            <a:ext cx="15106677" cy="622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1 - 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rt with the provided Excel file (.xlsx)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given dataset contains 10 sheets (multiple tables of raw GA data).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2 -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Separate each sheet into individual files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Open the Excel workbook.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Save/export each sheet as a single .csv file.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Naming convention: sheetname.csv (example: users.csv, sessions.csv).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3 -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Why CSV format?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CSV is lightweight and widely supported.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Easier to import into SQL databases compared to multi-sheet Excel files and for cleaning processes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98" y="34641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9144678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88796" y="89238"/>
            <a:ext cx="11704008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DATA CLEANING IN 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2929" y="1539785"/>
            <a:ext cx="14715742" cy="698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</a:t>
            </a: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tep 1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Remove irrelevant columns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remove empty/garbage columns from the Excel import to simplify schema and reduce storage.</a:t>
            </a:r>
          </a:p>
          <a:p>
            <a:pPr algn="just">
              <a:lnSpc>
                <a:spcPts val="3277"/>
              </a:lnSpc>
            </a:pPr>
          </a:p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2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Make column names consistent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consistent, simple column names make SQL queries, joins and BI mapping reliable.</a:t>
            </a:r>
          </a:p>
          <a:p>
            <a:pPr algn="just">
              <a:lnSpc>
                <a:spcPts val="3277"/>
              </a:lnSpc>
            </a:pPr>
          </a:p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3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Clean currency text in total_revenue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remove $ and commas so the column can be converted to numeric for aggregations.</a:t>
            </a:r>
          </a:p>
          <a:p>
            <a:pPr algn="just">
              <a:lnSpc>
                <a:spcPts val="3277"/>
              </a:lnSpc>
            </a:pPr>
          </a:p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4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 Safe Update Mode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Which is used to temporarily disable safe-update mode.</a:t>
            </a:r>
          </a:p>
          <a:p>
            <a:pPr algn="just">
              <a:lnSpc>
                <a:spcPts val="3277"/>
              </a:lnSpc>
            </a:pPr>
          </a:p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5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NULL handling / defaulting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replace NULLs with sensible defaults to prevent errors in aggregations and DAX measures.</a:t>
            </a:r>
          </a:p>
          <a:p>
            <a:pPr algn="just">
              <a:lnSpc>
                <a:spcPts val="3277"/>
              </a:lnSpc>
            </a:pPr>
          </a:p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 6</a:t>
            </a: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— Validation queries </a:t>
            </a:r>
          </a:p>
          <a:p>
            <a:pPr algn="just">
              <a:lnSpc>
                <a:spcPts val="3277"/>
              </a:lnSpc>
            </a:pPr>
            <a:r>
              <a:rPr lang="en-US" sz="234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Why: checks in the report to show data quality after cleaning,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8350" y="8603393"/>
            <a:ext cx="13464954" cy="207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7"/>
              </a:lnSpc>
            </a:pPr>
            <a:r>
              <a:rPr lang="en-US" sz="2341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Output</a:t>
            </a:r>
          </a:p>
          <a:p>
            <a:pPr algn="just" marL="505481" indent="-252741" lvl="1">
              <a:lnSpc>
                <a:spcPts val="3277"/>
              </a:lnSpc>
              <a:buFont typeface="Arial"/>
              <a:buChar char="•"/>
            </a:pPr>
            <a:r>
              <a:rPr lang="en-US" b="true" sz="234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Af</a:t>
            </a:r>
            <a:r>
              <a:rPr lang="en-US" b="true" sz="234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ter cleaning, you will have a structured, SQL-ready database.</a:t>
            </a:r>
          </a:p>
          <a:p>
            <a:pPr algn="just" marL="505481" indent="-252741" lvl="1">
              <a:lnSpc>
                <a:spcPts val="3277"/>
              </a:lnSpc>
              <a:buFont typeface="Arial"/>
              <a:buChar char="•"/>
            </a:pPr>
            <a:r>
              <a:rPr lang="en-US" b="true" sz="234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This cleaned database will then be used for analysis, KPIs, dashboards, and reporting.</a:t>
            </a:r>
          </a:p>
          <a:p>
            <a:pPr algn="just">
              <a:lnSpc>
                <a:spcPts val="327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9175402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4060" y="-35795"/>
            <a:ext cx="13133481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DASHBOARD PREPARATIONS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7880" y="1560219"/>
            <a:ext cx="13264328" cy="765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STEP-1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Import Cleaned Data From SQL Database to PowerBI by My SQL Server 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STEP-2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 Power Query (Data Cleaning &amp; Transformation)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a) Check Column Types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b) Remove Unwanted Columns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c) Rename Columns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d) Clean Special Characters.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e) Handle Missing / Null Values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f) Remove Duplicates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After cleaning, Close &amp; Apply.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STEP-3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 Data Modeling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STEP-4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 Create Measures (DAX)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STEP-5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 Build Dashboard Pages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60" y="36546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6207" y="-53806"/>
            <a:ext cx="11704008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DASHBOARD PAGE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7735" y="1885950"/>
            <a:ext cx="10402480" cy="527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  <a:r>
              <a:rPr lang="en-US" b="true" sz="3293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1- </a:t>
            </a:r>
            <a:r>
              <a:rPr lang="en-US" sz="3293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Executive Overview</a:t>
            </a: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  <a:r>
              <a:rPr lang="en-US" b="true" sz="3293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2- </a:t>
            </a:r>
            <a:r>
              <a:rPr lang="en-US" sz="3293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Acquisition &amp; Channel Insights</a:t>
            </a: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  <a:r>
              <a:rPr lang="en-US" b="true" sz="3293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,PAGE 3- </a:t>
            </a:r>
            <a:r>
              <a:rPr lang="en-US" sz="3293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Landing Page Performance</a:t>
            </a: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  <a:r>
              <a:rPr lang="en-US" b="true" sz="3293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4- </a:t>
            </a:r>
            <a:r>
              <a:rPr lang="en-US" sz="3293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Audience &amp; Demographics </a:t>
            </a: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10"/>
              </a:lnSpc>
              <a:spcBef>
                <a:spcPct val="0"/>
              </a:spcBef>
            </a:pPr>
            <a:r>
              <a:rPr lang="en-US" b="true" sz="3293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PAGE 5- </a:t>
            </a:r>
            <a:r>
              <a:rPr lang="en-US" sz="3293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Events Funnel &amp; Campaign Forecasting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0681" y="-197889"/>
            <a:ext cx="12957654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1-EXECUTIVE OVERVIEW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0681" y="1472565"/>
            <a:ext cx="12440043" cy="765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KPIs: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Users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Sessions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Revenue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per Session (RPS)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Cost Per Miles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1.Top 5 Channel Group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Organic Search: ~2.8K sessions (dominant contributor)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Direct: ~1.04K sessions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Paid Search: ~858 sessions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Referral &amp; Cross-network: minimal traffic</a:t>
            </a: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Organic Search is the largest traffic driver. Paid Search contributes but is small compared to Organic. Referral and Cross-network are negligible—suggesting underutilization of partnerships/affiliates.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0681" y="-197889"/>
            <a:ext cx="12957654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1-EXECUTIVE OVERVIEW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0681" y="1472565"/>
            <a:ext cx="12440043" cy="956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 Top 5 Revenue by Country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Indonesia: ~2.1K revenue (top market)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United States: ~1.7K revenue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Qatar: ~0.6K revenue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Other countries generate 0 revenue.</a:t>
            </a: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Revenue is highly geographically concentrated in just 3 countries (Indonesia, US, Qatar). Other countries, despite sessions, show no monetary contribution → possible lack of localized strategies or product-market fit.</a:t>
            </a: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 Engagement Rate over Top 5 Channel Groups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Organic Shopping: 0.68 engaged sessions per user (highest)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Organic Social &amp; Video: 1.08 (very high engagement)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 &amp; Paid Search: ~0.59–0.91 (moderate)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Email: 0 (no engagement at all)</a:t>
            </a: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Engagement is highest for social/video-driven traffic, which indicates stronger interest but may not be converting to sales. Email channel is completely ineffective (0 engagement).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0681" y="-197889"/>
            <a:ext cx="12957654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1-EXECUTIVE OVERVIEW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237" y="1328699"/>
            <a:ext cx="16183063" cy="908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 TOP LANDING PAGES BY SESSIONS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/search: 28.9% revenue (highest c</a:t>
            </a: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ONTRIBUTOR)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/PRODUCT/GOOGLE-GARMENT-WASHED: 8.7% REVENUE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/SHOP/APPAREL/MENS: 0.5% REVENUE DESPITE GOOD SESSIONS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/CHECKOUT: ONLY 0.2% REVENUE DESPITE HIGH VISITS (1,390 SESSIONS)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b="true" sz="27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NSIGHT: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SEARCH PAGE IS A KEY REVENUE DRIVER → CUSTOMERS SEARCH FIRST BEFORE PURCHASING.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CHECKOUT PAGE HAS A HIGH DROP-OFF RATE → MAJOR LEAKAGE IN THE CONVERSION FUNNEL.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CATEGORY PAGES LIKE MENS APPAREL ATTRACT VISITS BUT DO NOT CONVERT WELL.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SLICERS: 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CHANNEL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Q&amp;A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93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2-ACQUISITION &amp; CHANNEL INSIGHTS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704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KPIs: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New Users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Cost Spends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Impressions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vent per Session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Avg Engagement Time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1.Incremental Revenue by Channel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Compares incremental revenue (green) vs. total revenue (yellow) for each channel.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revenue (yellow) is consistently higher than incremental revenue (green) across all channels.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channel on the far right generates the highest total revenue.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There is significant variation in incremental revenue performance between different channels.</a:t>
            </a: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93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2-ACQUISITION &amp; CHANNEL INSIGHTS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63209" y="1729329"/>
            <a:ext cx="14896091" cy="967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2.Revenue vs. Cost by Channel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Displays the proportion of revenue and cost for each channel.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Highlights which channels are the biggest contributors to overall revenue and cost.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 and Organic Search are major segments in this chart.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3.Engagement Rate &amp; Engaged Sessions per User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Plots Engagement Rate against Engaged Sessions per User for different channels.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Identifies channels that successfully balance high engagement rates with a high number of sessions per user.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Channels in the top-right quadrant are the most effective at user interaction.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4.New Users by Channel Group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Shows the percentage breakdown of new users acquired from each channel group.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Clearly indicates which channels are most effective for user acquisition.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 appears to be a significant source of new users.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93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2-ACQUISITION &amp; CHANNEL INSIGHTS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63209" y="1729329"/>
            <a:ext cx="14896091" cy="704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5.Impressions by Channel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b="true" sz="2492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Compares the total number of impressions (reach) across different channels.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Identifies which channels have the highest visibility and brand reach.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There is a large variation in impressions between the best and worst-performing channels.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SLICERS: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Channel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Age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0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3-LANDING PAGE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748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KPIs: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Sessions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Revenue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Per Sessions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Conversion Rate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Key Events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1.Landing‑Page Performance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Landing 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pages with the highest sessions (e.g., the row with 67 863 sessions) also generate the largest total revenue (5 069 units).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Several pages show zero revenue despite decent session counts, indicating poor conversion (e.g., rows with 0 revenue but &gt; 600 sessions).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“%” column (likely average session duration or conversion‑rate metric) varies widely (0 s–18 s), suggesting that longer engagement may correlate with higher revenue.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0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3-LANDING PAGE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10109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2.Revenue vs Conversion‑Rate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Only a single data point appears, implying the current dataset is too limited to assess correlation; additional landing‑page data would be needed for a meaningful trend line.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3.Total‑Revenue &amp; Cumulative‑Revenue %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is heavily concentrated in a few landing pages; the cumulative‑percentage curve quickly climbs past 50 % after the top 2–3 pages, showing a classic Pareto (80/20) distribution.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4.Sessions by Channel Group (bar graph)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 traffic dominates (≈ 76 K sessions, ≈ 70 % of total).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Organic Search is the second source (≈ 16 K, ≈ 15 %).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Social, Referral, Other each contribute ~2 K sessions (≈ 2 % each).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heavy reliance on direct traffic suggests strong brand awareness or direct URL entry, but also a missed opportunity to grow paid or referral channels.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0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3-LANDING PAGE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660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5.Post‑Landing Page Funnel 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“View Item” bar is ≈ 1 292 % of the scale, while “Add‑to‑Cart” is only 10 % – a &gt; 120‑fold drop‑off after the product‑view step. 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Such a steep leak signals that users are interested enough to browse but are not convinced to purchase; the bottleneck is the “add‑to‑cart” trigger. 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Possible causes: unclear value proposition, missing price/stock info, weak “add‑to‑cart” CTA, or high perceived risk (shipping, payment). 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0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4-AUDIENCE &amp; DEMOGRAPHICS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704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KPIs: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Users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Highest Engagement Interest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Top Country by Users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Highest Revenue Age Group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1.Revenue by Country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China shows the biggest revenue dot, followed by the United States, Brazil, and Indonesia, pointing to a focus on Asian markets for top line growth.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2.Users by Age Group &amp; Gender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18‑24 yr is the largest cohort, heavily male‑dominated (≈ 12 % male vs 2‑3 % female).</a:t>
            </a:r>
          </a:p>
          <a:p>
            <a:pPr algn="just" marL="1076380" indent="-358793" lvl="2">
              <a:lnSpc>
                <a:spcPts val="3489"/>
              </a:lnSpc>
              <a:buFont typeface="Arial"/>
              <a:buChar char="⚬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counts decline steadily with age; 55‑64 yr is the smallest segment.</a:t>
            </a: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209550"/>
            <a:ext cx="13224712" cy="10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b="true" sz="5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4-AUDIENCE &amp; DEMOGRAPHICS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923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3.Revenue &amp; Engagement Rate by Age Group (line graph)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peaks in the 18‑24 bracket, mirroring the user‑volume trend.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Engagement is highest among 16‑18 yr users, then drops progressively with age, indicating younger users interact more intensely.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 10 Interests (bar chart)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Technology, Banking &amp; Finance, and Media &amp; Entertainment are the leading interests, suggesting content or product strategies should prioritize these categories.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5.Gender‑Distribution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Unknown: ~57 % (largest slice) – most records lack gender info.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Male: ~46 % – majority of the known‑gender sample is male.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Female: ~21 % – women are the smallest group.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Percentages add to &gt; 100 % → likely a labeling or data‑entry error; the key point is that “unknown” dominates.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180975"/>
            <a:ext cx="12071216" cy="175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b="true" sz="4783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5-EVENTS FUNNEL &amp; CAMPAIGN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791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KPIs: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Events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Total Predictive Users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Engagement Rate Event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Funnel Drop-off Rate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 User Journey Funnel 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art Event Step Count → View Item Step Count → Add to Cart Step Count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Major drop-off happens from viewing items (12K) to adding to cart (1K).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sight: 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Only ~8–9% of users who view an item add it to their cart → need strategies to improve product page engagement, recommendations, or stronger CTAs.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 Predictive Performance Gauge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Shows 23K predicted outcome (likely users, conversions, or revenue).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Gauge indicates performance is around the mid-range (not near max potential of 44K).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Growth potential remains high; focus on retention &amp; conversion optimization.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180975"/>
            <a:ext cx="12071216" cy="175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b="true" sz="4783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PAGE 5-EVENTS FUNNEL &amp; CAMPAIGN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835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 Audience Segment Comparison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Highest revenue from Purchasers (244,804,800) and High-Value Purchasers (49,467,000).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Engaged users (9,837,000 revenue) and Predicted 28-day top spenders (8,358,000) show future opportunity.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Non-purchasers (3,707,000 r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evenue, 5070 users) still generate value, likely through ad views or partial actions.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 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Prioritize high-value purchasers for loyalty programs and convert engaged users into paying customers.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 Top 10 Events by Event Count (Bottom-Left)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Page View (132K) is the most frequent event.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Other strong events: session start (99K), scrolls (53K), user engagement (47K).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Purchases (1K) are very low compared to page views (132K) → conversion rate gap.</a:t>
            </a: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Insight: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Lots of browsing but weak checkout → consider UX improvements, faster checkout, targeted offers, or abandoned cart emails.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180975"/>
            <a:ext cx="12071216" cy="9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b="true" sz="4783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STRATEGIC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1080" y="1630113"/>
            <a:ext cx="14896091" cy="879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1.Focus on Best Chann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els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Increase budget for channels with high engagement and revenue.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Reduce spend on low-performing sources.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Impro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ve Funnel Conversion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Reduce drop-offs between Add to Cart → Purchase.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</a:t>
            </a: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 reminders, offers, and a smoother checkout process.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3.Target the Right Audience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Focus on engaged users and top spenders.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 personalized ads and re-marketing.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Enhance Landing Pages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Work on top-performing pages to boost conversions.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Improve slow or low-traffic pages with better design and CTAs.</a:t>
            </a:r>
          </a:p>
          <a:p>
            <a:pPr algn="just">
              <a:lnSpc>
                <a:spcPts val="3489"/>
              </a:lnSpc>
            </a:pPr>
          </a:p>
          <a:p>
            <a:pPr algn="just">
              <a:lnSpc>
                <a:spcPts val="3489"/>
              </a:lnSpc>
            </a:pP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</a:t>
            </a:r>
            <a:r>
              <a:rPr lang="en-US" sz="2492" b="tru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Use Data for Smart Budgeting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Apply forecasting to plan future campaigns.</a:t>
            </a:r>
          </a:p>
          <a:p>
            <a:pPr algn="just" marL="538190" indent="-269095" lvl="1">
              <a:lnSpc>
                <a:spcPts val="3489"/>
              </a:lnSpc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Shift budgets based on real-time performance insights.</a:t>
            </a:r>
          </a:p>
          <a:p>
            <a:pPr algn="just">
              <a:lnSpc>
                <a:spcPts val="348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50" y="824865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49650" y="0"/>
            <a:ext cx="2019300" cy="2019300"/>
          </a:xfrm>
          <a:custGeom>
            <a:avLst/>
            <a:gdLst/>
            <a:ahLst/>
            <a:cxnLst/>
            <a:rect r="r" b="b" t="t" l="l"/>
            <a:pathLst>
              <a:path h="2019300" w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3473"/>
            <a:ext cx="2037880" cy="663237"/>
          </a:xfrm>
          <a:custGeom>
            <a:avLst/>
            <a:gdLst/>
            <a:ahLst/>
            <a:cxnLst/>
            <a:rect r="r" b="b" t="t" l="l"/>
            <a:pathLst>
              <a:path h="663237" w="2037880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5392" y="9258300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4891" y="-180975"/>
            <a:ext cx="12071216" cy="9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b="true" sz="4783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6302" y="2821964"/>
            <a:ext cx="16454684" cy="390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5"/>
              </a:lnSpc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</a:t>
            </a: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 dashboard helps to clearly understand how campaigns perform.</a:t>
            </a:r>
          </a:p>
          <a:p>
            <a:pPr algn="just">
              <a:lnSpc>
                <a:spcPts val="3855"/>
              </a:lnSpc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analyzing cha</a:t>
            </a: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nnels, audience, and landing pages, we can:</a:t>
            </a:r>
          </a:p>
          <a:p>
            <a:pPr algn="just" marL="594502" indent="-297251" lvl="1">
              <a:lnSpc>
                <a:spcPts val="3855"/>
              </a:lnSpc>
              <a:buFont typeface="Arial"/>
              <a:buChar char="•"/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mprove ad performance and ROI.</a:t>
            </a:r>
          </a:p>
          <a:p>
            <a:pPr algn="just" marL="594502" indent="-297251" lvl="1">
              <a:lnSpc>
                <a:spcPts val="3855"/>
              </a:lnSpc>
              <a:buFont typeface="Arial"/>
              <a:buChar char="•"/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Reduce conv</a:t>
            </a: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ersion drop-offs.</a:t>
            </a:r>
          </a:p>
          <a:p>
            <a:pPr algn="just" marL="594502" indent="-297251" lvl="1">
              <a:lnSpc>
                <a:spcPts val="3855"/>
              </a:lnSpc>
              <a:buFont typeface="Arial"/>
              <a:buChar char="•"/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Make better, data-driven marketing decisions.</a:t>
            </a:r>
          </a:p>
          <a:p>
            <a:pPr algn="just">
              <a:lnSpc>
                <a:spcPts val="3855"/>
              </a:lnSpc>
            </a:pPr>
            <a:r>
              <a:rPr lang="en-US" sz="275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This project shows how Power BI helps turn marketing data into simple, useful insights that improve campaign success.</a:t>
            </a:r>
          </a:p>
          <a:p>
            <a:pPr algn="just">
              <a:lnSpc>
                <a:spcPts val="3855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1807" y="520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632480" y="1033692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428242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282420" y="0"/>
                </a:lnTo>
                <a:lnTo>
                  <a:pt x="428242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63292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3"/>
                </a:lnTo>
                <a:lnTo>
                  <a:pt x="0" y="82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4442" y="200888"/>
            <a:ext cx="2543558" cy="827812"/>
          </a:xfrm>
          <a:custGeom>
            <a:avLst/>
            <a:gdLst/>
            <a:ahLst/>
            <a:cxnLst/>
            <a:rect r="r" b="b" t="t" l="l"/>
            <a:pathLst>
              <a:path h="827812" w="2543558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1923" y="3559063"/>
            <a:ext cx="15119377" cy="263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8"/>
              </a:lnSpc>
            </a:pPr>
            <a:r>
              <a:rPr lang="en-US" b="true" sz="1384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-22337"/>
            <a:ext cx="5998829" cy="5998829"/>
          </a:xfrm>
          <a:custGeom>
            <a:avLst/>
            <a:gdLst/>
            <a:ahLst/>
            <a:cxnLst/>
            <a:rect r="r" b="b" t="t" l="l"/>
            <a:pathLst>
              <a:path h="5998829" w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631923" y="1033692"/>
            <a:ext cx="3073400" cy="3073400"/>
          </a:xfrm>
          <a:custGeom>
            <a:avLst/>
            <a:gdLst/>
            <a:ahLst/>
            <a:cxnLst/>
            <a:rect r="r" b="b" t="t" l="l"/>
            <a:pathLst>
              <a:path h="3073400" w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2289171" y="4288171"/>
            <a:ext cx="5998829" cy="5998829"/>
          </a:xfrm>
          <a:custGeom>
            <a:avLst/>
            <a:gdLst/>
            <a:ahLst/>
            <a:cxnLst/>
            <a:rect r="r" b="b" t="t" l="l"/>
            <a:pathLst>
              <a:path h="5998829" w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4185900" y="6184900"/>
            <a:ext cx="3073400" cy="3073400"/>
          </a:xfrm>
          <a:custGeom>
            <a:avLst/>
            <a:gdLst/>
            <a:ahLst/>
            <a:cxnLst/>
            <a:rect r="r" b="b" t="t" l="l"/>
            <a:pathLst>
              <a:path h="3073400" w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DAG0trQ9I3k</dc:identifier>
  <dcterms:modified xsi:type="dcterms:W3CDTF">2011-08-01T06:04:30Z</dcterms:modified>
  <cp:revision>1</cp:revision>
  <dc:title>Data-Driven Insights for Digital Marketing Campaigns</dc:title>
</cp:coreProperties>
</file>